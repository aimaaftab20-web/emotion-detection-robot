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6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9" r:id="rId12"/>
    <p:sldId id="267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7AF74-EFB1-41C4-A3EF-3EE72BCB09F7}" type="datetimeFigureOut">
              <a:rPr lang="en-IN" smtClean="0"/>
              <a:pPr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9CEF1-DCA6-4F26-B7AA-C9A03E1FC6E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15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AC5A-7FA1-41DC-96ED-69EF3C1DEC4B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3601-6B35-4AE5-9573-D154E36A65C3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0C2DE-956F-46A7-8150-80344D7E4B13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5240-193C-4A5C-813D-8E30722A70C6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CE02-2DEC-45EE-A67D-E97E6D99F5AF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C3B8-54C6-4E13-B4C5-B33631E8491A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47D9-2BBF-45DC-94FA-3B300684BB31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5019-B37C-476C-963E-FDE5CEC7594D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C941-F5D6-43DA-AEE2-E9080FC176F1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E309-1A31-4353-A2AB-A73AA0508E24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13A0-C943-4113-8205-D8FE2D20DC0B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AFBFA-3D5A-42ED-9DAD-4F8FBCC1AC61}" type="datetime1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" TargetMode="External"/><Relationship Id="rId2" Type="http://schemas.openxmlformats.org/officeDocument/2006/relationships/hyperlink" Target="https://opencv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aspberrypi.org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2211" y="1094073"/>
            <a:ext cx="7772400" cy="1680760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Emotional Response Robot </a:t>
            </a:r>
            <a:br>
              <a:rPr lang="en-IN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using Raspberry Pi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389864"/>
            <a:ext cx="3335609" cy="1934706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i="1" dirty="0">
                <a:solidFill>
                  <a:schemeClr val="tx1"/>
                </a:solidFill>
              </a:rPr>
              <a:t>Under the supervision of:</a:t>
            </a:r>
            <a:br>
              <a:rPr lang="en-IN" sz="2400" dirty="0">
                <a:solidFill>
                  <a:schemeClr val="tx1"/>
                </a:solidFill>
              </a:rPr>
            </a:br>
            <a:endParaRPr lang="en-IN" sz="24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tx1"/>
                </a:solidFill>
              </a:rPr>
              <a:t>Dr. </a:t>
            </a:r>
            <a:r>
              <a:rPr lang="en-IN" sz="2400" dirty="0" err="1">
                <a:solidFill>
                  <a:schemeClr val="tx1"/>
                </a:solidFill>
              </a:rPr>
              <a:t>Shaktijeet</a:t>
            </a:r>
            <a:r>
              <a:rPr lang="en-IN" sz="2400" dirty="0">
                <a:solidFill>
                  <a:schemeClr val="tx1"/>
                </a:solidFill>
              </a:rPr>
              <a:t> Mohapatra and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400" dirty="0">
                <a:solidFill>
                  <a:schemeClr val="tx1"/>
                </a:solidFill>
              </a:rPr>
              <a:t>Dr. Bhanja Kishor Swain</a:t>
            </a:r>
          </a:p>
          <a:p>
            <a:br>
              <a:rPr lang="en-IN" sz="2000" dirty="0">
                <a:solidFill>
                  <a:schemeClr val="tx1"/>
                </a:solidFill>
              </a:rPr>
            </a:b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16669" y="4826"/>
            <a:ext cx="4059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Section: 2341-2O3</a:t>
            </a:r>
          </a:p>
          <a:p>
            <a:r>
              <a:rPr lang="en-IN" dirty="0"/>
              <a:t>Group No: 10</a:t>
            </a:r>
          </a:p>
        </p:txBody>
      </p:sp>
      <p:pic>
        <p:nvPicPr>
          <p:cNvPr id="1026" name="Picture 2" descr="SOA | SIKSHA 'O' ANUSANDHA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229344"/>
            <a:ext cx="1400175" cy="139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4822861" y="3050598"/>
            <a:ext cx="4225382" cy="224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dirty="0">
                <a:solidFill>
                  <a:schemeClr val="tx1"/>
                </a:solidFill>
              </a:rPr>
              <a:t>Arjumand Khan (2341011060)</a:t>
            </a:r>
          </a:p>
          <a:p>
            <a:pPr algn="l"/>
            <a:r>
              <a:rPr lang="en-IN" sz="2000" dirty="0">
                <a:solidFill>
                  <a:schemeClr val="tx1"/>
                </a:solidFill>
              </a:rPr>
              <a:t>Aima Aftab (</a:t>
            </a:r>
            <a:r>
              <a:rPr lang="en-US" sz="2000" dirty="0">
                <a:solidFill>
                  <a:schemeClr val="tx1"/>
                </a:solidFill>
              </a:rPr>
              <a:t>2341001034)</a:t>
            </a:r>
            <a:endParaRPr lang="en-IN" sz="2000" dirty="0">
              <a:solidFill>
                <a:schemeClr val="tx1"/>
              </a:solidFill>
            </a:endParaRP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Sanjana Baral (2341002031)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Yasolipsa</a:t>
            </a:r>
            <a:r>
              <a:rPr lang="en-US" sz="2000" dirty="0">
                <a:solidFill>
                  <a:schemeClr val="tx1"/>
                </a:solidFill>
              </a:rPr>
              <a:t> Bhoi (2341002177)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Amarjeet Ranjan (2341018075)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Ankit Pritam Mallick (2341013084)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04929" y="593248"/>
            <a:ext cx="6550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Robotics Programming Workshop -1 (CSE 3197)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Centre for </a:t>
            </a:r>
            <a:r>
              <a:rPr lang="en-IN" sz="2000" b="1" dirty="0" err="1">
                <a:solidFill>
                  <a:schemeClr val="tx1"/>
                </a:solidFill>
              </a:rPr>
              <a:t>IoT</a:t>
            </a:r>
            <a:r>
              <a:rPr lang="en-IN" sz="2000" b="1" dirty="0">
                <a:solidFill>
                  <a:schemeClr val="tx1"/>
                </a:solidFill>
              </a:rPr>
              <a:t>, ITER, </a:t>
            </a:r>
            <a:r>
              <a:rPr lang="en-IN" sz="2000" b="1" dirty="0" err="1">
                <a:solidFill>
                  <a:schemeClr val="tx1"/>
                </a:solidFill>
              </a:rPr>
              <a:t>Siksha</a:t>
            </a:r>
            <a:r>
              <a:rPr lang="en-IN" sz="2000" b="1" dirty="0">
                <a:solidFill>
                  <a:schemeClr val="tx1"/>
                </a:solidFill>
              </a:rPr>
              <a:t> ‘O’ </a:t>
            </a:r>
            <a:r>
              <a:rPr lang="en-IN" sz="2000" b="1" dirty="0" err="1">
                <a:solidFill>
                  <a:schemeClr val="tx1"/>
                </a:solidFill>
              </a:rPr>
              <a:t>Anusandhan</a:t>
            </a:r>
            <a:r>
              <a:rPr lang="en-IN" sz="2000" b="1" dirty="0">
                <a:solidFill>
                  <a:schemeClr val="tx1"/>
                </a:solidFill>
              </a:rPr>
              <a:t> (Deemed to be University), Bhubaneswar </a:t>
            </a:r>
            <a:endParaRPr lang="en-IN" sz="20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9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Contents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0950"/>
          </a:xfrm>
        </p:spPr>
        <p:txBody>
          <a:bodyPr>
            <a:normAutofit/>
          </a:bodyPr>
          <a:lstStyle/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Aim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Literature Survey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Objectives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Block Diagrams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Circuit Diagram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Components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References</a:t>
            </a:r>
          </a:p>
          <a:p>
            <a:pPr algn="just"/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5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927" y="467157"/>
            <a:ext cx="8229600" cy="114300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927" y="1610157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To design and implement an intelligent robot using Raspberry Pi 4 that detects human emotions from facial expressions in real-time and </a:t>
            </a:r>
            <a:r>
              <a:rPr lang="en-AE" sz="2400" dirty="0"/>
              <a:t>displays the detected emotion accordingly.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0522F2B-B6B4-1F55-A8D9-631450FC78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4600" y="1371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A656AE-7E85-E0E8-DC01-6B553AC72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392422"/>
            <a:ext cx="6324600" cy="285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33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502275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IN" sz="5100" b="1" dirty="0"/>
              <a:t>Emotion Detection: </a:t>
            </a:r>
          </a:p>
          <a:p>
            <a:r>
              <a:rPr lang="en-IN" sz="4400" dirty="0"/>
              <a:t>It </a:t>
            </a:r>
            <a:r>
              <a:rPr lang="en-AE" sz="4400" dirty="0"/>
              <a:t>is a part of affective computing, which focuses on recognizing human emotions.</a:t>
            </a:r>
            <a:endParaRPr lang="en-IN" sz="4400" dirty="0"/>
          </a:p>
          <a:p>
            <a:pPr marL="0" indent="0" algn="just">
              <a:buNone/>
            </a:pPr>
            <a:r>
              <a:rPr lang="en-IN" sz="5100" b="1" dirty="0"/>
              <a:t>Autonomy System: </a:t>
            </a:r>
          </a:p>
          <a:p>
            <a:r>
              <a:rPr lang="en-AE" sz="4400" dirty="0"/>
              <a:t>The system operates autonomously to detect faces and classify emotions.</a:t>
            </a:r>
          </a:p>
          <a:p>
            <a:pPr marL="0" indent="0" algn="just">
              <a:buNone/>
            </a:pPr>
            <a:r>
              <a:rPr lang="en-IN" sz="5100" b="1" dirty="0"/>
              <a:t>Core Mechanism: </a:t>
            </a:r>
          </a:p>
          <a:p>
            <a:r>
              <a:rPr lang="en-AE" sz="4400" dirty="0"/>
              <a:t>A Raspberry Pi with a camera module captures live video input.</a:t>
            </a:r>
          </a:p>
          <a:p>
            <a:r>
              <a:rPr lang="en-AE" sz="4400" dirty="0"/>
              <a:t>Computer vision techniques and neural networks are used for emotion classification.</a:t>
            </a:r>
          </a:p>
          <a:p>
            <a:pPr marL="0" indent="0" algn="just">
              <a:buNone/>
            </a:pPr>
            <a:r>
              <a:rPr lang="en-IN" sz="5100" b="1" dirty="0"/>
              <a:t>Applications:</a:t>
            </a:r>
          </a:p>
          <a:p>
            <a:r>
              <a:rPr lang="en-AE" sz="4400" dirty="0"/>
              <a:t>Applications include healthcare monitoring, education, human-robot interaction, and customer service.</a:t>
            </a:r>
            <a:endParaRPr lang="en-IN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Literature Survey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Facial Expression Recognition Systems</a:t>
            </a:r>
            <a:r>
              <a:rPr lang="en-IN" sz="2800" dirty="0"/>
              <a:t>:</a:t>
            </a:r>
          </a:p>
          <a:p>
            <a:r>
              <a:rPr lang="en-AE" sz="2400" dirty="0"/>
              <a:t>Facial expression recognition systems commonly use Convolutional Neural Networks (CNNs).</a:t>
            </a:r>
          </a:p>
          <a:p>
            <a:pPr marL="0" indent="0">
              <a:buNone/>
            </a:pPr>
            <a:r>
              <a:rPr lang="en-IN" sz="2800" b="1" dirty="0"/>
              <a:t>Raspberry Pi in Robotics</a:t>
            </a:r>
            <a:r>
              <a:rPr lang="en-IN" sz="2800" dirty="0"/>
              <a:t>:</a:t>
            </a:r>
          </a:p>
          <a:p>
            <a:r>
              <a:rPr lang="en-AE" sz="2400" dirty="0"/>
              <a:t>Raspberry Pi is widely used in robotics due to its GPIO support, camera compatibility, and portability.</a:t>
            </a:r>
          </a:p>
          <a:p>
            <a:pPr marL="0" indent="0">
              <a:buNone/>
            </a:pPr>
            <a:r>
              <a:rPr lang="en-IN" sz="2800" b="1" dirty="0"/>
              <a:t>Emotion Detection Applications</a:t>
            </a:r>
            <a:r>
              <a:rPr lang="en-IN" sz="2800" dirty="0"/>
              <a:t>:</a:t>
            </a:r>
          </a:p>
          <a:p>
            <a:r>
              <a:rPr lang="en-IN" sz="2400" dirty="0"/>
              <a:t>Used in customer service, healthcare, education, and human-robot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8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1"/>
            <a:ext cx="8229600" cy="342900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2400" b="1" dirty="0"/>
              <a:t>1</a:t>
            </a:r>
            <a:r>
              <a:rPr lang="en-IN" sz="2400" dirty="0"/>
              <a:t>. Detect human faces using a camera module.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400" b="1" dirty="0"/>
              <a:t>2</a:t>
            </a:r>
            <a:r>
              <a:rPr lang="en-IN" sz="2400" dirty="0"/>
              <a:t>. Classify emotions using a trained neural network (e.g., TensorFlow/</a:t>
            </a:r>
            <a:r>
              <a:rPr lang="en-IN" sz="2400" dirty="0" err="1"/>
              <a:t>Keras</a:t>
            </a:r>
            <a:r>
              <a:rPr lang="en-IN" sz="2400" dirty="0"/>
              <a:t>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400" b="1" dirty="0"/>
              <a:t>3</a:t>
            </a:r>
            <a:r>
              <a:rPr lang="en-IN" sz="2400" dirty="0"/>
              <a:t>. Build a robot platform that interacts based on detected emotion.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400" b="1" dirty="0"/>
              <a:t>4</a:t>
            </a:r>
            <a:r>
              <a:rPr lang="en-IN" sz="2400" dirty="0"/>
              <a:t>. Display emotion results on an interface (LCD/monitor) and optionally generate audio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07" y="608012"/>
            <a:ext cx="8229600" cy="7620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Block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55743F5-0FD8-4B0B-19BF-9B091F185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21" b="14014"/>
          <a:stretch>
            <a:fillRect/>
          </a:stretch>
        </p:blipFill>
        <p:spPr>
          <a:xfrm>
            <a:off x="451206" y="1387475"/>
            <a:ext cx="8241587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Circuit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D66901-88AA-9852-6654-83C7C836E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638"/>
            <a:ext cx="8229600" cy="5059362"/>
          </a:xfrm>
        </p:spPr>
      </p:pic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Components Required and Purposes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8130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sz="3000" b="1" dirty="0"/>
              <a:t>Raspberry Pi 4:</a:t>
            </a:r>
            <a:r>
              <a:rPr lang="en-US" sz="3000" dirty="0"/>
              <a:t> </a:t>
            </a:r>
            <a:r>
              <a:rPr lang="en-US" sz="2600" dirty="0"/>
              <a:t>Main processing unit for running emotion detection model.</a:t>
            </a:r>
          </a:p>
          <a:p>
            <a:r>
              <a:rPr lang="en-US" sz="3000" b="1" dirty="0"/>
              <a:t>Webcam / Camera Module:</a:t>
            </a:r>
            <a:r>
              <a:rPr lang="en-US" sz="3000" dirty="0"/>
              <a:t> </a:t>
            </a:r>
            <a:r>
              <a:rPr lang="en-US" sz="2600" dirty="0"/>
              <a:t>Captures live facial images.</a:t>
            </a:r>
          </a:p>
          <a:p>
            <a:r>
              <a:rPr lang="en-US" sz="3000" b="1" dirty="0"/>
              <a:t>16×2 LCD Display / Monitor:</a:t>
            </a:r>
            <a:r>
              <a:rPr lang="en-US" sz="2800" b="1" dirty="0"/>
              <a:t> </a:t>
            </a:r>
            <a:r>
              <a:rPr lang="en-US" sz="2600" dirty="0"/>
              <a:t>Displays detected emotion.</a:t>
            </a:r>
          </a:p>
          <a:p>
            <a:r>
              <a:rPr lang="en-US" sz="3000" b="1" dirty="0"/>
              <a:t>MicroSD Card (32 GB):</a:t>
            </a:r>
            <a:r>
              <a:rPr lang="en-US" sz="3000" dirty="0"/>
              <a:t> </a:t>
            </a:r>
            <a:r>
              <a:rPr lang="en-US" sz="2600" dirty="0"/>
              <a:t>Stores operating system and program files.</a:t>
            </a:r>
          </a:p>
          <a:p>
            <a:r>
              <a:rPr lang="en-US" sz="3000" b="1" dirty="0"/>
              <a:t>Breadboard &amp; Connecting Wires:</a:t>
            </a:r>
            <a:r>
              <a:rPr lang="en-US" sz="3000" dirty="0"/>
              <a:t> </a:t>
            </a:r>
            <a:r>
              <a:rPr lang="en-US" sz="2600" dirty="0"/>
              <a:t>Hardware connections.</a:t>
            </a:r>
          </a:p>
          <a:p>
            <a:r>
              <a:rPr lang="en-US" sz="3000" b="1" dirty="0"/>
              <a:t>Power Supply:</a:t>
            </a:r>
            <a:r>
              <a:rPr lang="en-US" sz="3000" dirty="0"/>
              <a:t> </a:t>
            </a:r>
            <a:r>
              <a:rPr lang="en-US" sz="2600" dirty="0"/>
              <a:t>Provides power to Raspberry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4C69-E29B-DA19-CC6A-23907C80F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0541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Pictures of Components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927FFE-5B00-EE38-F7F4-A7D81606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BAFC0-1C9A-0364-A370-5FFE7DBB7360}"/>
              </a:ext>
            </a:extLst>
          </p:cNvPr>
          <p:cNvSpPr txBox="1"/>
          <p:nvPr/>
        </p:nvSpPr>
        <p:spPr>
          <a:xfrm>
            <a:off x="325732" y="3364656"/>
            <a:ext cx="196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Raspberry</a:t>
            </a:r>
            <a:r>
              <a:rPr lang="en-US" dirty="0"/>
              <a:t> Pi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6D19E-D374-63EE-BA1E-B4C3565AEF9E}"/>
              </a:ext>
            </a:extLst>
          </p:cNvPr>
          <p:cNvSpPr txBox="1"/>
          <p:nvPr/>
        </p:nvSpPr>
        <p:spPr>
          <a:xfrm>
            <a:off x="3125581" y="3384227"/>
            <a:ext cx="2249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 X 2  LCD Display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209036-8617-788C-5D98-19D0FE1ACBF4}"/>
              </a:ext>
            </a:extLst>
          </p:cNvPr>
          <p:cNvSpPr txBox="1"/>
          <p:nvPr/>
        </p:nvSpPr>
        <p:spPr>
          <a:xfrm>
            <a:off x="5975842" y="3367451"/>
            <a:ext cx="2994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 GB MicroSD </a:t>
            </a:r>
            <a:r>
              <a:rPr lang="en-US" sz="2000" dirty="0"/>
              <a:t>memory</a:t>
            </a:r>
            <a:r>
              <a:rPr lang="en-US" dirty="0"/>
              <a:t> card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43F3E-A918-D3D8-01C1-7C7F73AEE797}"/>
              </a:ext>
            </a:extLst>
          </p:cNvPr>
          <p:cNvSpPr txBox="1"/>
          <p:nvPr/>
        </p:nvSpPr>
        <p:spPr>
          <a:xfrm>
            <a:off x="1524001" y="5981940"/>
            <a:ext cx="213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GL-12 </a:t>
            </a:r>
            <a:r>
              <a:rPr lang="en-US" sz="2000" dirty="0" err="1"/>
              <a:t>BreadBoard</a:t>
            </a:r>
            <a:endParaRPr lang="en-US" sz="2000" dirty="0"/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05B1B93E-55B4-55FD-5CF1-7C6F82BF75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69F98797-1FD1-EDC1-66D4-6A4CF2B505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46672" y="2003672"/>
            <a:ext cx="1730128" cy="173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476A28-4A2D-B995-91A3-07FC9F9FB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32" y="1644737"/>
            <a:ext cx="2103192" cy="15638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B16D61-4DE7-6AE5-B7EE-61AD4AA8B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22" y="1385888"/>
            <a:ext cx="1909762" cy="20180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B1A130-7688-82D8-BFE0-05D52FA6B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097" y="1499300"/>
            <a:ext cx="1909763" cy="17093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80B6FA-322D-C538-927B-ED8D77DC27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293" y="3865833"/>
            <a:ext cx="1962480" cy="18080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E961B52-38DF-5757-F76C-6C02EFA51E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061" y="4359430"/>
            <a:ext cx="2283790" cy="131445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308AA0F-F8B2-8913-05F3-6C93DD7CD62E}"/>
              </a:ext>
            </a:extLst>
          </p:cNvPr>
          <p:cNvSpPr txBox="1"/>
          <p:nvPr/>
        </p:nvSpPr>
        <p:spPr>
          <a:xfrm>
            <a:off x="5374599" y="5981940"/>
            <a:ext cx="1730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Web Cam</a:t>
            </a:r>
          </a:p>
        </p:txBody>
      </p:sp>
    </p:spTree>
    <p:extLst>
      <p:ext uri="{BB962C8B-B14F-4D97-AF65-F5344CB8AC3E}">
        <p14:creationId xmlns:p14="http://schemas.microsoft.com/office/powerpoint/2010/main" val="4268988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1E98-D592-3A07-921D-706EA11C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604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7DE04-4DA7-B583-AC9A-48DC92D5D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E" sz="2400" dirty="0"/>
              <a:t>The emotion detection robot using Raspberry Pi successfully recognizes and classifies human emotions in real-time.</a:t>
            </a:r>
            <a:br>
              <a:rPr lang="en-AE" sz="2400" dirty="0"/>
            </a:br>
            <a:endParaRPr lang="en-AE" sz="2400" dirty="0"/>
          </a:p>
          <a:p>
            <a:pPr marL="0" indent="0">
              <a:buNone/>
            </a:pPr>
            <a:r>
              <a:rPr lang="en-AE" sz="2400" dirty="0"/>
              <a:t>This project demonstrates the effective integration of computer vision and embedded systems for improved human-machine interaction and can be extended for advanced robotic applications.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BD8BE-0E32-ACAC-C628-2A85852B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79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5876"/>
            <a:ext cx="8229600" cy="114300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593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60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2A112A-F0EB-5163-2D6D-06DAC764640F}"/>
              </a:ext>
            </a:extLst>
          </p:cNvPr>
          <p:cNvSpPr txBox="1"/>
          <p:nvPr/>
        </p:nvSpPr>
        <p:spPr>
          <a:xfrm>
            <a:off x="457200" y="2286000"/>
            <a:ext cx="8229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E" sz="2800" b="1" dirty="0"/>
              <a:t>C. Shan, S. G. Gong, P. W. </a:t>
            </a:r>
            <a:r>
              <a:rPr lang="en-AE" sz="2800" b="1" dirty="0" err="1"/>
              <a:t>McOwan</a:t>
            </a:r>
            <a:r>
              <a:rPr lang="en-AE" sz="2800" b="1" dirty="0"/>
              <a:t>: </a:t>
            </a:r>
            <a:r>
              <a:rPr lang="en-AE" sz="2600" i="1" dirty="0"/>
              <a:t>Facial Expression Recognition Based on Local Binary Patterns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OpenCV Documentation: </a:t>
            </a:r>
            <a:r>
              <a:rPr lang="en-US" sz="2600" dirty="0">
                <a:hlinkClick r:id="rId2"/>
              </a:rPr>
              <a:t>https://opencv.org/</a:t>
            </a:r>
            <a:endParaRPr lang="en-US" sz="2600" dirty="0"/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TensorFlow Tutorials: </a:t>
            </a:r>
            <a:r>
              <a:rPr lang="en-US" sz="2600" dirty="0">
                <a:hlinkClick r:id="rId3"/>
              </a:rPr>
              <a:t>https://www.tensorflow.org/</a:t>
            </a:r>
            <a:endParaRPr lang="en-US" sz="2600" dirty="0"/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Raspberry Pi Foundation Documentation: </a:t>
            </a:r>
            <a:r>
              <a:rPr lang="en-US" sz="2600" dirty="0">
                <a:hlinkClick r:id="rId4"/>
              </a:rPr>
              <a:t>https://www.raspberrypi.org/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DC4F20-918C-F425-7D39-115706C7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457DC-9D1D-4BB7-3B19-60D1A11C59D8}"/>
              </a:ext>
            </a:extLst>
          </p:cNvPr>
          <p:cNvSpPr txBox="1"/>
          <p:nvPr/>
        </p:nvSpPr>
        <p:spPr>
          <a:xfrm>
            <a:off x="914400" y="1600200"/>
            <a:ext cx="6781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6600" dirty="0"/>
          </a:p>
          <a:p>
            <a:pPr algn="ctr"/>
            <a:r>
              <a:rPr lang="en-US" sz="6600" dirty="0"/>
              <a:t>   </a:t>
            </a:r>
            <a:r>
              <a:rPr lang="en-US" sz="6600" b="1" dirty="0">
                <a:solidFill>
                  <a:srgbClr val="C0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12802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538</Words>
  <Application>Microsoft Office PowerPoint</Application>
  <PresentationFormat>On-screen Show (4:3)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Emotional Response Robot  using Raspberry Pi 4</vt:lpstr>
      <vt:lpstr>Contents </vt:lpstr>
      <vt:lpstr>Aim</vt:lpstr>
      <vt:lpstr>Introduction</vt:lpstr>
      <vt:lpstr>Literature Survey </vt:lpstr>
      <vt:lpstr>Project Objectives</vt:lpstr>
      <vt:lpstr>Block Diagram</vt:lpstr>
      <vt:lpstr>Circuit Diagram</vt:lpstr>
      <vt:lpstr>Components Required and Purposes </vt:lpstr>
      <vt:lpstr>Pictures of Components</vt:lpstr>
      <vt:lpstr>Conclusion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ITERADMIN</dc:creator>
  <cp:lastModifiedBy>Aima Aftab</cp:lastModifiedBy>
  <cp:revision>42</cp:revision>
  <dcterms:created xsi:type="dcterms:W3CDTF">2006-08-16T00:00:00Z</dcterms:created>
  <dcterms:modified xsi:type="dcterms:W3CDTF">2026-01-08T17:30:48Z</dcterms:modified>
</cp:coreProperties>
</file>